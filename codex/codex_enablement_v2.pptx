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 i="0">
                <a:solidFill>
                  <a:srgbClr val="FFFFFF"/>
                </a:solidFill>
                <a:latin typeface="Calibri"/>
              </a:defRPr>
            </a:pPr>
            <a:r>
              <a:t>Engineering Visibility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2560320"/>
            <a:ext cx="2743200" cy="54864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83464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 i="0">
                <a:solidFill>
                  <a:srgbClr val="CCCCDD"/>
                </a:solidFill>
                <a:latin typeface="Calibri"/>
              </a:defRPr>
            </a:pPr>
            <a:r>
              <a:t>How Codex Makes Your Codebase — and Your Engineering — Visible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3657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1">
                <a:solidFill>
                  <a:srgbClr val="9999BB"/>
                </a:solidFill>
                <a:latin typeface="Calibri"/>
              </a:defRPr>
            </a:pPr>
            <a:r>
              <a:t>Enterprise Enablement Session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475488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10A37F"/>
                </a:solidFill>
                <a:latin typeface="Calibri"/>
              </a:defRPr>
            </a:pPr>
            <a:r>
              <a:t>Prepared for: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50292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BBBBCC"/>
                </a:solidFill>
                <a:latin typeface="Calibri"/>
              </a:defRPr>
            </a:pPr>
            <a:r>
              <a:t>Director of Engineering  |  VP of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53949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0">
                <a:solidFill>
                  <a:srgbClr val="777799"/>
                </a:solidFill>
                <a:latin typeface="Calibri"/>
              </a:defRPr>
            </a:pPr>
            <a:r>
              <a:t>March 2026  |  OpenAI Enterprise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A1A2E"/>
                </a:solidFill>
                <a:latin typeface="Calibri"/>
              </a:defRPr>
            </a:pPr>
            <a:r>
              <a:t>Four Problems. One Root Cause.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3A6B9F"/>
                </a:solidFill>
                <a:latin typeface="Calibri"/>
              </a:defRPr>
            </a:pPr>
            <a:r>
              <a:t>What We Heard in Discovery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•  15-year-old checkout code nobody understands</a:t>
            </a: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•  Test coverage gaps — teams afraid to refactor</a:t>
            </a: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•  Prior AI tool rollout ended in a security incident</a:t>
            </a: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•  No visibility into what developers were generating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5897880" y="1371600"/>
            <a:ext cx="27432" cy="411480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0" y="13716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E76F51"/>
                </a:solidFill>
                <a:latin typeface="Calibri"/>
              </a:defRPr>
            </a:pPr>
            <a:r>
              <a:t>The Insight: One Root Cause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920240"/>
            <a:ext cx="530352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→  Invisible codebase → devs can't understand it</a:t>
            </a: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→  Invisible quality → teams can't prioritize</a:t>
            </a: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→  Invisible usage → leadership can't govern</a:t>
            </a: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spcAft>
                <a:spcPts val="550"/>
              </a:spcAft>
              <a:defRPr sz="1500" b="0" i="0">
                <a:solidFill>
                  <a:srgbClr val="2D2D2D"/>
                </a:solidFill>
                <a:latin typeface="Calibri"/>
              </a:defRPr>
            </a:pPr>
            <a:r>
              <a:t>→  Invisible impact → business can't justify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5669280"/>
            <a:ext cx="11247120" cy="82296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7150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All four problems share one root cause: invisibility. Codex doesn't just write code — it generates the data that makes engineering visible.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A1A2E"/>
                </a:solidFill>
                <a:latin typeface="Calibri"/>
              </a:defRPr>
            </a:pPr>
            <a:r>
              <a:t>Agentic. Sandboxed. Every Action Audited.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463040"/>
            <a:ext cx="5029200" cy="3657600"/>
          </a:xfrm>
          <a:prstGeom prst="roundRect">
            <a:avLst/>
          </a:prstGeom>
          <a:solidFill>
            <a:srgbClr val="E8EEF8"/>
          </a:solidFill>
          <a:ln w="19050">
            <a:solidFill>
              <a:srgbClr val="3A6B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3A6B9F"/>
                </a:solidFill>
                <a:latin typeface="Calibri"/>
              </a:defRPr>
            </a:pPr>
            <a:r>
              <a:t>DEVELOPER MACHINE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103120"/>
            <a:ext cx="44805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488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2D2D2D"/>
                </a:solidFill>
                <a:latin typeface="Calibri"/>
              </a:defRPr>
            </a:pPr>
            <a:r>
              <a:t>Code Repository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46888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88888"/>
                </a:solidFill>
                <a:latin typeface="Calibri"/>
              </a:defRPr>
            </a:pPr>
            <a:r>
              <a:t>Source files, dependencies, tests, AGENTS.md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08960"/>
            <a:ext cx="44805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1546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0A37F"/>
                </a:solidFill>
                <a:latin typeface="Calibri"/>
              </a:defRPr>
            </a:pPr>
            <a:r>
              <a:t>Codex CLI (Open-Source Rust)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47472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88888"/>
                </a:solidFill>
                <a:latin typeface="Calibri"/>
              </a:defRPr>
            </a:pPr>
            <a:r>
              <a:t>Read → Plan → Edit → Run → Verify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14800"/>
            <a:ext cx="4480560" cy="82296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16052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E76F51"/>
                </a:solidFill>
                <a:latin typeface="Calibri"/>
              </a:defRPr>
            </a:pPr>
            <a:r>
              <a:t>Kernel-Level Sandbox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48056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Seatbelt (macOS) / Landlock + seccomp (Linux)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32120" y="2560320"/>
            <a:ext cx="1097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 i="0">
                <a:solidFill>
                  <a:srgbClr val="10A37F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3154680"/>
            <a:ext cx="128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 i="1">
                <a:solidFill>
                  <a:srgbClr val="888888"/>
                </a:solidFill>
                <a:latin typeface="Calibri"/>
              </a:defRPr>
            </a:pPr>
            <a:r>
              <a:t>Relevant</a:t>
            </a:r>
            <a:br/>
            <a:r>
              <a:t>context only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0" y="1463040"/>
            <a:ext cx="5029200" cy="365760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0" y="15544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0A37F"/>
                </a:solidFill>
                <a:latin typeface="Calibri"/>
              </a:defRPr>
            </a:pPr>
            <a:r>
              <a:t>OPENAI CLOUD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949440" y="2103120"/>
            <a:ext cx="4480560" cy="82296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86600" y="21488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0A37F"/>
                </a:solidFill>
                <a:latin typeface="Calibri"/>
              </a:defRPr>
            </a:pPr>
            <a:r>
              <a:t>GPT-5.4 (1M context)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86600" y="2468880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888888"/>
                </a:solidFill>
                <a:latin typeface="Calibri"/>
              </a:defRPr>
            </a:pPr>
            <a:r>
              <a:t>Reasoning + code generation. No training on your data.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0" y="3108960"/>
            <a:ext cx="4480560" cy="1828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86600" y="31546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C5CE7"/>
                </a:solidFill>
                <a:latin typeface="Calibri"/>
              </a:defRPr>
            </a:pPr>
            <a:r>
              <a:t>Enterprise Controls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520440"/>
            <a:ext cx="42062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SAML SSO + SCIM provisioning</a:t>
            </a:r>
            <a:br/>
            <a:r>
              <a:t>•  RBAC + Compliance API + audit trails</a:t>
            </a:r>
            <a:br/>
            <a:r>
              <a:t>•  Usage analytics dashboard</a:t>
            </a:r>
            <a:br/>
            <a:r>
              <a:t>•  requirements.toml — cloud-managed policies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349240"/>
            <a:ext cx="1124712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3949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A1A2E"/>
                </a:solidFill>
                <a:latin typeface="Calibri"/>
              </a:defRPr>
            </a:pPr>
            <a:r>
              <a:t>Codex is governed AND visible. Open-source CLI, auditable, Compliance API. Part of OpenAI's enterprise suite alongside ChatGPT Enterprise + API + Frontier.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6126480"/>
            <a:ext cx="11247120" cy="50292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144768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2D2D2D"/>
                </a:solidFill>
                <a:latin typeface="Calibri"/>
              </a:defRPr>
            </a:pPr>
            <a:r>
              <a:t>VP Assurance: Source code stays on the developer machine. Only relevant context reaches the API. Kernel-level sandbox blocks unauthorized access.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A1A2E"/>
                </a:solidFill>
                <a:latin typeface="Calibri"/>
              </a:defRPr>
            </a:pPr>
            <a:r>
              <a:t>Your Standards Become the AI’s Operating Rules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10A37F"/>
                </a:solidFill>
                <a:latin typeface="Consolas"/>
              </a:defRPr>
            </a:pPr>
            <a:r>
              <a:t>AGENTS.md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745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888888"/>
                </a:solidFill>
                <a:latin typeface="Calibri"/>
              </a:defRPr>
            </a:pPr>
            <a:r>
              <a:t>Per-repo config, version-controlled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1031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10A37F"/>
                </a:solidFill>
                <a:latin typeface="Calibri"/>
              </a:defRPr>
            </a:pPr>
            <a:r>
              <a:t>Team-owned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" y="2331720"/>
            <a:ext cx="1828800" cy="27432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468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Define what Codex can/cannot do per repo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249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Cascading: org → repo → folder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Version-controlled alongside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23697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Engineering teams own their policies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4930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594360" y="37490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Example: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400507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"Do not modify files in /payments"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26110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"Always run tests before committing"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137160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3484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6C5CE7"/>
                </a:solidFill>
                <a:latin typeface="Consolas"/>
              </a:defRPr>
            </a:pPr>
            <a:r>
              <a:t>requirements.toml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34840" y="18745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888888"/>
                </a:solidFill>
                <a:latin typeface="Calibri"/>
              </a:defRPr>
            </a:pPr>
            <a:r>
              <a:t>Cloud-managed guardrails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4840" y="21031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6C5CE7"/>
                </a:solidFill>
                <a:latin typeface="Calibri"/>
              </a:defRPr>
            </a:pPr>
            <a:r>
              <a:t>IT-owned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2331720"/>
            <a:ext cx="1828800" cy="27432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434840" y="2468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Set by IT/Security, enforced centrally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34840" y="27249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Overrides local AGENTS.md when stricter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Define allowed/blocked operations globally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23697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Audit-friendly: policy = code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34930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29" name="TextBox 28"/>
          <p:cNvSpPr txBox="1"/>
          <p:nvPr/>
        </p:nvSpPr>
        <p:spPr>
          <a:xfrm>
            <a:off x="4434840" y="37490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Example: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34840" y="400507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"Block all direct database writes"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426110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"Require review for security paths"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138160" y="1371600"/>
            <a:ext cx="3566160" cy="4389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6B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2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 i="0">
                <a:solidFill>
                  <a:srgbClr val="3A6B9F"/>
                </a:solidFill>
                <a:latin typeface="Consolas"/>
              </a:defRPr>
            </a:pPr>
            <a:r>
              <a:t>Approval Modes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20" y="18745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 i="1">
                <a:solidFill>
                  <a:srgbClr val="888888"/>
                </a:solidFill>
                <a:latin typeface="Calibri"/>
              </a:defRPr>
            </a:pPr>
            <a:r>
              <a:t>Graduated trust for operations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20" y="2103120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0">
                <a:solidFill>
                  <a:srgbClr val="3A6B9F"/>
                </a:solidFill>
                <a:latin typeface="Calibri"/>
              </a:defRPr>
            </a:pPr>
            <a:r>
              <a:t>Phased rollout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5320" y="2331720"/>
            <a:ext cx="1828800" cy="27432"/>
          </a:xfrm>
          <a:prstGeom prst="rect">
            <a:avLst/>
          </a:prstGeom>
          <a:solidFill>
            <a:srgbClr val="3A6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20" y="24688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on-request — asks before every action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72491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untrusted — auto-approves safe ops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20" y="298094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team-by-team — earned autonomy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323697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41" name="TextBox 40"/>
          <p:cNvSpPr txBox="1"/>
          <p:nvPr/>
        </p:nvSpPr>
        <p:spPr>
          <a:xfrm>
            <a:off x="8275320" y="349300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Phase mapping: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374904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Pilot: on-request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20" y="4005072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Expand: untrusted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426110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Scale: team-by-team decision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4517136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46" name="TextBox 45"/>
          <p:cNvSpPr txBox="1"/>
          <p:nvPr/>
        </p:nvSpPr>
        <p:spPr>
          <a:xfrm>
            <a:off x="8275320" y="47731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Trust is earned, not assumed.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57200" y="5943600"/>
            <a:ext cx="1124712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0">
                <a:solidFill>
                  <a:srgbClr val="1A1A2E"/>
                </a:solidFill>
                <a:latin typeface="Calibri"/>
              </a:defRPr>
            </a:pPr>
            <a:r>
              <a:t>OpenAI built 1 million lines of production code using this exact harness in 5 months. The open-source CLI is auditable.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A1A2E"/>
                </a:solidFill>
                <a:latin typeface="Calibri"/>
              </a:defRPr>
            </a:pPr>
            <a:r>
              <a:t>Start Read-Only. Scale on Evidence.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566160" cy="38404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10A37F"/>
                </a:solidFill>
                <a:latin typeface="Calibri"/>
              </a:defRPr>
            </a:pPr>
            <a:r>
              <a:t>1. Code Understanding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8288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1">
                <a:solidFill>
                  <a:srgbClr val="10A37F"/>
                </a:solidFill>
                <a:latin typeface="Calibri"/>
              </a:defRPr>
            </a:pPr>
            <a:r>
              <a:t>HIGHLIGHTED — Start here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2103120"/>
            <a:ext cx="1828800" cy="27432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240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"Explain this function and its deps"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4780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"What would break if I changed this?"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715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Impact analysis + dependency mapping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95351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14" name="TextBox 13"/>
          <p:cNvSpPr txBox="1"/>
          <p:nvPr/>
        </p:nvSpPr>
        <p:spPr>
          <a:xfrm>
            <a:off x="594360" y="319125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Why first: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42899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Read-only = zero generation risk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4360" y="366674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Addresses pain #1 (legacy code)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" y="390448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Fastest "aha moment"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" y="41422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Gateway to other workflows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37997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461771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Cisco: 1,500 hrs/month saved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485546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Onboarding: 91→49 days (DX Research)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0" y="1371600"/>
            <a:ext cx="35661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A6B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484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A6B9F"/>
                </a:solidFill>
                <a:latin typeface="Calibri"/>
              </a:defRPr>
            </a:pPr>
            <a:r>
              <a:t>2. Test Generation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18288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1">
                <a:solidFill>
                  <a:srgbClr val="888888"/>
                </a:solidFill>
                <a:latin typeface="Calibri"/>
              </a:defRPr>
            </a:pPr>
            <a:r>
              <a:t>Measurable coverage lift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34840" y="2103120"/>
            <a:ext cx="1828800" cy="27432"/>
          </a:xfrm>
          <a:prstGeom prst="rect">
            <a:avLst/>
          </a:prstGeom>
          <a:solidFill>
            <a:srgbClr val="3A6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34840" y="2240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"Generate unit tests for this function"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24780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"Add edge cases for the payment flow"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2715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Coverage reports before/after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295351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4434840" y="319125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Why second: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342899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Measurable output (coverage %)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366674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Builds on code understanding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390448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Addresses test gap pain point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34840" y="41422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Generated tests require review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38160" y="1371600"/>
            <a:ext cx="356616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C5C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75320" y="1463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6C5CE7"/>
                </a:solidFill>
                <a:latin typeface="Calibri"/>
              </a:defRPr>
            </a:pPr>
            <a:r>
              <a:t>3. Docs &amp; Refactoring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75320" y="18288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 i="1">
                <a:solidFill>
                  <a:srgbClr val="888888"/>
                </a:solidFill>
                <a:latin typeface="Calibri"/>
              </a:defRPr>
            </a:pPr>
            <a:r>
              <a:t>Velocity improvement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75320" y="2103120"/>
            <a:ext cx="1828800" cy="27432"/>
          </a:xfrm>
          <a:prstGeom prst="rect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75320" y="224028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"Document this module's public API"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2478024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"Refactor to extract shared logic"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2715768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•  Inline documentation generation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295351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</a:p>
        </p:txBody>
      </p:sp>
      <p:sp>
        <p:nvSpPr>
          <p:cNvPr id="43" name="TextBox 42"/>
          <p:cNvSpPr txBox="1"/>
          <p:nvPr/>
        </p:nvSpPr>
        <p:spPr>
          <a:xfrm>
            <a:off x="8275320" y="3191255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Why third: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3428999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Highest autonomy, highest review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75320" y="3666743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Devs have trust by this point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75320" y="3904487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Direct velocity impact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75320" y="4142231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  ✓  Requires mature harness config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7200" y="5349240"/>
            <a:ext cx="11247120" cy="27432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54406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10A37F"/>
                </a:solidFill>
                <a:latin typeface="Calibri"/>
              </a:defRPr>
            </a:pPr>
            <a:r>
              <a:t>WEEKS 1–2: Pilot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56875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20–30 devs  |  Code Understanding  |  on-request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297680" y="54406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3A6B9F"/>
                </a:solidFill>
                <a:latin typeface="Calibri"/>
              </a:defRPr>
            </a:pPr>
            <a:r>
              <a:t>WEEKS 3–6: Expand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297680" y="56875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3 teams  |  + Test Generation  |  untrusted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38160" y="544068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 i="0">
                <a:solidFill>
                  <a:srgbClr val="6C5CE7"/>
                </a:solidFill>
                <a:latin typeface="Calibri"/>
              </a:defRPr>
            </a:pPr>
            <a:r>
              <a:t>WEEKS 7–12: Scale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38160" y="5687568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 i="0">
                <a:solidFill>
                  <a:srgbClr val="2D2D2D"/>
                </a:solidFill>
                <a:latin typeface="Calibri"/>
              </a:defRPr>
            </a:pPr>
            <a:r>
              <a:t>All engineering  |  + Docs &amp; Refactoring  |  team-by-team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6035040"/>
            <a:ext cx="6858000" cy="54864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94360" y="6062472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2D2D2D"/>
                </a:solidFill>
                <a:latin typeface="Calibri"/>
              </a:defRPr>
            </a:pPr>
            <a:r>
              <a:t>Codex has real limitations. We show you how to work WITH them, not around them.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498079" y="6035040"/>
            <a:ext cx="4206240" cy="5486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635240" y="6062472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C0392B"/>
                </a:solidFill>
                <a:latin typeface="Calibri"/>
              </a:defRPr>
            </a:pPr>
            <a:r>
              <a:t>All generated code = standard code review. No exceptions.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9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4008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 i="0">
                <a:solidFill>
                  <a:srgbClr val="1A1A2E"/>
                </a:solidFill>
                <a:latin typeface="Calibri"/>
              </a:defRPr>
            </a:pPr>
            <a:r>
              <a:t>Same Data. Two Audiences.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051560"/>
            <a:ext cx="2286000" cy="36576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6858000" cy="38404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8888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6492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 i="0">
                <a:solidFill>
                  <a:srgbClr val="888888"/>
                </a:solidFill>
                <a:latin typeface="Calibri"/>
              </a:defRPr>
            </a:pPr>
            <a:r>
              <a:t>VISIBILITY DASHBOARD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8006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888888"/>
                </a:solidFill>
                <a:latin typeface="Calibri"/>
              </a:defRPr>
            </a:pPr>
            <a:r>
              <a:t>Teams 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783080"/>
            <a:ext cx="6400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 i="1">
                <a:solidFill>
                  <a:srgbClr val="888888"/>
                </a:solidFill>
                <a:latin typeface="Calibri"/>
              </a:defRPr>
            </a:pPr>
            <a:r>
              <a:t>Workflows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1031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88888"/>
                </a:solidFill>
                <a:latin typeface="Calibri"/>
              </a:defRPr>
            </a:pPr>
            <a:r>
              <a:t>Understanding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17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88888"/>
                </a:solidFill>
                <a:latin typeface="Calibri"/>
              </a:defRPr>
            </a:pPr>
            <a:r>
              <a:t>Test Gen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9319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0">
                <a:solidFill>
                  <a:srgbClr val="888888"/>
                </a:solidFill>
                <a:latin typeface="Calibri"/>
              </a:defRPr>
            </a:pPr>
            <a:r>
              <a:t>Docs/Refactor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1783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3A6B9F"/>
                </a:solidFill>
                <a:latin typeface="Calibri"/>
              </a:defRPr>
            </a:pPr>
            <a:r>
              <a:t>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783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6C5CE7"/>
                </a:solidFill>
                <a:latin typeface="Calibri"/>
              </a:defRPr>
            </a:pPr>
            <a:r>
              <a:t>Checkout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1783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E76F51"/>
                </a:solidFill>
                <a:latin typeface="Calibri"/>
              </a:defRPr>
            </a:pPr>
            <a:r>
              <a:t>Inventory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1783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 i="0">
                <a:solidFill>
                  <a:srgbClr val="10A37F"/>
                </a:solidFill>
                <a:latin typeface="Calibri"/>
              </a:defRPr>
            </a:pPr>
            <a:r>
              <a:t>Payments</a:t>
            </a:r>
          </a:p>
        </p:txBody>
      </p:sp>
      <p:sp>
        <p:nvSpPr>
          <p:cNvPr id="17" name="Oval 16"/>
          <p:cNvSpPr/>
          <p:nvPr/>
        </p:nvSpPr>
        <p:spPr>
          <a:xfrm>
            <a:off x="2148840" y="2057400"/>
            <a:ext cx="777240" cy="77724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383280" y="2194560"/>
            <a:ext cx="594360" cy="59436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526280" y="2331720"/>
            <a:ext cx="457200" cy="45720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5760720" y="2148840"/>
            <a:ext cx="685800" cy="68580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286000" y="3017520"/>
            <a:ext cx="502920" cy="50292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3429000" y="297180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663440" y="3154680"/>
            <a:ext cx="320040" cy="32004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852160" y="3063240"/>
            <a:ext cx="457200" cy="45720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331720" y="3931920"/>
            <a:ext cx="365760" cy="36576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20440" y="4023360"/>
            <a:ext cx="274320" cy="274320"/>
          </a:xfrm>
          <a:prstGeom prst="ellipse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709160" y="4069080"/>
            <a:ext cx="228600" cy="22860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897880" y="3931920"/>
            <a:ext cx="411480" cy="411480"/>
          </a:xfrm>
          <a:prstGeom prst="ellipse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526280"/>
            <a:ext cx="5943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 i="1">
                <a:solidFill>
                  <a:srgbClr val="888888"/>
                </a:solidFill>
                <a:latin typeface="Calibri"/>
              </a:defRPr>
            </a:pPr>
            <a:r>
              <a:t>Bubble size = query volume     Color = risk level (green = safe, orange = review needed, red = flagged)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68880" y="480060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 i="0">
                <a:solidFill>
                  <a:srgbClr val="1A1A2E"/>
                </a:solidFill>
                <a:latin typeface="Calibri"/>
              </a:defRPr>
            </a:pPr>
            <a:r>
              <a:t>Team × Workflow × Risk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9520" y="1371600"/>
            <a:ext cx="4114800" cy="1828800"/>
          </a:xfrm>
          <a:prstGeom prst="roundRect">
            <a:avLst/>
          </a:prstGeom>
          <a:solidFill>
            <a:srgbClr val="FDF2E9"/>
          </a:solidFill>
          <a:ln w="19050">
            <a:solidFill>
              <a:srgbClr val="E76F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26679" y="141732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E76F51"/>
                </a:solidFill>
                <a:latin typeface="Calibri"/>
              </a:defRPr>
            </a:pPr>
            <a:r>
              <a:t>VP View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26679" y="1737360"/>
            <a:ext cx="1371600" cy="27432"/>
          </a:xfrm>
          <a:prstGeom prst="rect">
            <a:avLst/>
          </a:prstGeom>
          <a:solidFill>
            <a:srgbClr val="E76F5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26679" y="1828800"/>
            <a:ext cx="3840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Usage patterns across teams</a:t>
            </a:r>
          </a:p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Risk indicators by workflow</a:t>
            </a:r>
          </a:p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Compliance trails, audit-ready</a:t>
            </a:r>
          </a:p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Export for security review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589520" y="3383280"/>
            <a:ext cx="4114800" cy="1828800"/>
          </a:xfrm>
          <a:prstGeom prst="roundRect">
            <a:avLst/>
          </a:prstGeom>
          <a:solidFill>
            <a:srgbClr val="E8EEF8"/>
          </a:solidFill>
          <a:ln w="19050">
            <a:solidFill>
              <a:srgbClr val="3A6B9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26679" y="342900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 i="0">
                <a:solidFill>
                  <a:srgbClr val="3A6B9F"/>
                </a:solidFill>
                <a:latin typeface="Calibri"/>
              </a:defRPr>
            </a:pPr>
            <a:r>
              <a:t>Director View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726679" y="3749039"/>
            <a:ext cx="1371600" cy="27432"/>
          </a:xfrm>
          <a:prstGeom prst="rect">
            <a:avLst/>
          </a:prstGeom>
          <a:solidFill>
            <a:srgbClr val="3A6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26679" y="3840480"/>
            <a:ext cx="3840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Adoption rates by team</a:t>
            </a:r>
          </a:p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Bottlenecks and friction points</a:t>
            </a:r>
          </a:p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Impact metrics (coverage, velocity)</a:t>
            </a:r>
          </a:p>
          <a:p>
            <a:pPr algn="l">
              <a:spcAft>
                <a:spcPts val="520"/>
              </a:spcAft>
              <a:defRPr sz="1200" b="0" i="0">
                <a:solidFill>
                  <a:srgbClr val="2D2D2D"/>
                </a:solidFill>
                <a:latin typeface="Calibri"/>
              </a:defRPr>
            </a:pPr>
            <a:r>
              <a:t>•  Team performance trends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5303520"/>
            <a:ext cx="11247120" cy="640080"/>
          </a:xfrm>
          <a:prstGeom prst="roundRect">
            <a:avLst/>
          </a:prstGeom>
          <a:solidFill>
            <a:srgbClr val="E8F5F0"/>
          </a:solidFill>
          <a:ln w="19050">
            <a:solidFill>
              <a:srgbClr val="10A3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5349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1" i="0">
                <a:solidFill>
                  <a:srgbClr val="1A1A2E"/>
                </a:solidFill>
                <a:latin typeface="Calibri"/>
              </a:defRPr>
            </a:pPr>
            <a:r>
              <a:t>Same data, different views. Shared language for what's happening and whether it's working.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6080760"/>
            <a:ext cx="11247120" cy="27432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61722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 i="1">
                <a:solidFill>
                  <a:srgbClr val="10A37F"/>
                </a:solidFill>
                <a:latin typeface="Calibri"/>
              </a:defRPr>
            </a:pPr>
            <a:r>
              <a:t>We built this dashboard in 48 hours using Codex.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5720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 i="0">
                <a:solidFill>
                  <a:srgbClr val="FFFFFF"/>
                </a:solidFill>
                <a:latin typeface="Calibri"/>
              </a:defRPr>
            </a:pPr>
            <a:r>
              <a:t>Next Step: Pilot in Two Weeks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508760"/>
            <a:ext cx="2286000" cy="54864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371600" y="2011680"/>
            <a:ext cx="548640" cy="548640"/>
          </a:xfrm>
          <a:prstGeom prst="ellipse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71600" y="205740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01168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Select Pilot Team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03120" y="246888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BBBBCC"/>
                </a:solidFill>
                <a:latin typeface="Calibri"/>
              </a:defRPr>
            </a:pPr>
            <a:r>
              <a:t>Platform engineering — most legacy burden, most to gain. Their success becomes the proof point for expansion. 20–30 developers. Code Understanding only.</a:t>
            </a:r>
          </a:p>
        </p:txBody>
      </p:sp>
      <p:sp>
        <p:nvSpPr>
          <p:cNvPr id="10" name="Oval 9"/>
          <p:cNvSpPr/>
          <p:nvPr/>
        </p:nvSpPr>
        <p:spPr>
          <a:xfrm>
            <a:off x="1371600" y="3474720"/>
            <a:ext cx="548640" cy="548640"/>
          </a:xfrm>
          <a:prstGeom prst="ellipse">
            <a:avLst/>
          </a:prstGeom>
          <a:solidFill>
            <a:srgbClr val="3A6B9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52044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47472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IT/Security Workshop — Day 1, Not Day 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03120" y="393192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BBBBCC"/>
                </a:solidFill>
                <a:latin typeface="Calibri"/>
              </a:defRPr>
            </a:pPr>
            <a:r>
              <a:t>Joint session with your security team and OpenAI to configure requirements.toml, SSO integration, data classification, and audit policies. Security is a partner, not a gate.</a:t>
            </a:r>
          </a:p>
        </p:txBody>
      </p:sp>
      <p:sp>
        <p:nvSpPr>
          <p:cNvPr id="14" name="Oval 13"/>
          <p:cNvSpPr/>
          <p:nvPr/>
        </p:nvSpPr>
        <p:spPr>
          <a:xfrm>
            <a:off x="1371600" y="4937760"/>
            <a:ext cx="548640" cy="548640"/>
          </a:xfrm>
          <a:prstGeom prst="ellipse">
            <a:avLst/>
          </a:prstGeom>
          <a:solidFill>
            <a:srgbClr val="6C5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983480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4937760"/>
            <a:ext cx="8686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 i="0">
                <a:solidFill>
                  <a:srgbClr val="FFFFFF"/>
                </a:solidFill>
                <a:latin typeface="Calibri"/>
              </a:defRPr>
            </a:pPr>
            <a:r>
              <a:t>Define Pass/Fail Metrics Before the Pilot Starts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03120" y="5394960"/>
            <a:ext cx="8686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BBBBCC"/>
                </a:solidFill>
                <a:latin typeface="Calibri"/>
              </a:defRPr>
            </a:pPr>
            <a:r>
              <a:t>Agree on measurable success criteria in writing before anyone touches the tool. If we hit the metric, evidence drives expansion. If we don't, you have a fair, data-driven decision.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71600" y="5760720"/>
            <a:ext cx="9144000" cy="27432"/>
          </a:xfrm>
          <a:prstGeom prst="rect">
            <a:avLst/>
          </a:prstGeom>
          <a:solidFill>
            <a:srgbClr val="10A3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71600" y="589788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 i="1">
                <a:solidFill>
                  <a:srgbClr val="10A37F"/>
                </a:solidFill>
                <a:latin typeface="Calibri"/>
              </a:defRPr>
            </a:pPr>
            <a:r>
              <a:t>"Start visible. Stay visible. Scale on evidence."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