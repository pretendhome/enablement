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FFFF"/>
                </a:solidFill>
                <a:latin typeface="Calibri"/>
              </a:defRPr>
            </a:pPr>
            <a:r>
              <a:t>Governed Codex Adoption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60320"/>
            <a:ext cx="2743200" cy="54864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CCCCDD"/>
                </a:solidFill>
                <a:latin typeface="Calibri"/>
              </a:defRPr>
            </a:pPr>
            <a:r>
              <a:t>Improve code understanding, quality, and onboarding without losing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9999BB"/>
                </a:solidFill>
                <a:latin typeface="Calibri"/>
              </a:defRPr>
            </a:pPr>
            <a:r>
              <a:t>Enterprise Enablement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0A37F"/>
                </a:solidFill>
                <a:latin typeface="Calibri"/>
              </a:defRPr>
            </a:pPr>
            <a:r>
              <a:t>Prepared for: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Director of Engineering  |  VP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94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77799"/>
                </a:solidFill>
                <a:latin typeface="Calibri"/>
              </a:defRPr>
            </a:pPr>
            <a:r>
              <a:t>March 2026  |  OpenAI Enterprise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Four Problems. One Root Cause.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3A6B9F"/>
                </a:solidFill>
                <a:latin typeface="Calibri"/>
              </a:defRPr>
            </a:pPr>
            <a:r>
              <a:t>What We Heard in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15-year-old checkout code nobody understands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Test coverage gaps — teams afraid to refactor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Prior tool rollouts stalled due to uneven adoption and weak governance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No visibility into what developers were generating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371600"/>
            <a:ext cx="27432" cy="41148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E76F51"/>
                </a:solidFill>
                <a:latin typeface="Calibri"/>
              </a:defRPr>
            </a:pPr>
            <a:r>
              <a:t>The Insight: One Root 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codebase → devs can't understand it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quality → teams can't prioritize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usage → leadership can't govern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impact → leadership can't justify scale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669280"/>
            <a:ext cx="11247120" cy="8229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All four problems share one root cause: invisibility. Codex helps teams work in the codebase while giving leadership evidence to govern rollout.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Codex in the Workflow: Local Context, Managed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5029200" cy="3657600"/>
          </a:xfrm>
          <a:prstGeom prst="roundRect">
            <a:avLst/>
          </a:prstGeom>
          <a:solidFill>
            <a:srgbClr val="E8EEF8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6B9F"/>
                </a:solidFill>
                <a:latin typeface="Calibri"/>
              </a:defRPr>
            </a:pPr>
            <a:r>
              <a:t>DEVELOPER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4480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2D2D2D"/>
                </a:solidFill>
                <a:latin typeface="Calibri"/>
              </a:defRPr>
            </a:pPr>
            <a:r>
              <a:t>Code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88888"/>
                </a:solidFill>
                <a:latin typeface="Calibri"/>
              </a:defRPr>
            </a:pPr>
            <a:r>
              <a:t>Source files, dependencies, tests, AGENTS.md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4480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0A37F"/>
                </a:solidFill>
                <a:latin typeface="Calibri"/>
              </a:defRPr>
            </a:pPr>
            <a:r>
              <a:t>Codex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747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88888"/>
                </a:solidFill>
                <a:latin typeface="Calibri"/>
              </a:defRPr>
            </a:pPr>
            <a:r>
              <a:t>Read → Plan → Edit → Run → Verify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4480560" cy="82296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76F51"/>
                </a:solidFill>
                <a:latin typeface="Calibri"/>
              </a:defRPr>
            </a:pPr>
            <a:r>
              <a:t>Kernel-Level Sandbox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805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Seatbelt (macOS) / Landlock + seccomp (Linux)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5603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10A37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1546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888888"/>
                </a:solidFill>
                <a:latin typeface="Calibri"/>
              </a:defRPr>
            </a:pPr>
            <a:r>
              <a:t>Relevant</a:t>
            </a:r>
            <a:br/>
            <a:r>
              <a:t>context 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463040"/>
            <a:ext cx="5029200" cy="36576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0A37F"/>
                </a:solidFill>
                <a:latin typeface="Calibri"/>
              </a:defRPr>
            </a:pPr>
            <a:r>
              <a:t>OPENAI CLOUD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103120"/>
            <a:ext cx="4480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2148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0A37F"/>
                </a:solidFill>
                <a:latin typeface="Calibri"/>
              </a:defRPr>
            </a:pPr>
            <a:r>
              <a:t>OpenAI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4688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88888"/>
                </a:solidFill>
                <a:latin typeface="Calibri"/>
              </a:defRPr>
            </a:pPr>
            <a:r>
              <a:t>Reasoning + code generation. No training on your 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3108960"/>
            <a:ext cx="44805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1546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C5CE7"/>
                </a:solidFill>
                <a:latin typeface="Calibri"/>
              </a:defRPr>
            </a:pPr>
            <a:r>
              <a:t>Enterprise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2044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SAML SSO + SCIM provisioning</a:t>
            </a:r>
            <a:br/>
            <a:r>
              <a:t>•  RBAC + audit logging + usage reporting</a:t>
            </a:r>
            <a:br/>
            <a:r>
              <a:t>•  Usage analytics dashboard</a:t>
            </a:r>
            <a:br/>
            <a:r>
              <a:t>•  Central policy controls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A1A2E"/>
                </a:solidFill>
                <a:latin typeface="Calibri"/>
              </a:defRPr>
            </a:pPr>
            <a:r>
              <a:t>Codex is governed and observable. Teams work locally, leadership gets rollout evidence. Part of OpenAI's enterprise suite alongside ChatGPT Enterprise + API + Frontier.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26480"/>
            <a:ext cx="11247120" cy="50292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1447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VP Assurance: use a managed environment, central guardrails, and phased permissions so adoption can scale safely.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Your Standards Become the AI’s Operating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0A37F"/>
                </a:solidFill>
                <a:latin typeface="Consolas"/>
              </a:defRPr>
            </a:pPr>
            <a:r>
              <a:t>AGENTS.md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888888"/>
                </a:solidFill>
                <a:latin typeface="Calibri"/>
              </a:defRPr>
            </a:pPr>
            <a:r>
              <a:t>Per-repo config, version-controlled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0A37F"/>
                </a:solidFill>
                <a:latin typeface="Calibri"/>
              </a:defRPr>
            </a:pPr>
            <a:r>
              <a:t>Team-owned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331720"/>
            <a:ext cx="182880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Define what Codex can/cannot do per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249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Cascading: org → repo → folder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Version-controlled alongside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369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Engineering teams own their policies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930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3749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050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"Do not modify files in /payments"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2611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"Always run tests before committing"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37160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C5CE7"/>
                </a:solidFill>
                <a:latin typeface="Consolas"/>
              </a:defRPr>
            </a:pPr>
            <a:r>
              <a:t>Org Policy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888888"/>
                </a:solidFill>
                <a:latin typeface="Calibri"/>
              </a:defRPr>
            </a:pPr>
            <a:r>
              <a:t>Central guardrails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1031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C5CE7"/>
                </a:solidFill>
                <a:latin typeface="Calibri"/>
              </a:defRPr>
            </a:pPr>
            <a:r>
              <a:t>IT-owned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2331720"/>
            <a:ext cx="1828800" cy="27432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Set by IT/Security, enforced centrally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27249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Overrides local AGENTS.md when stricter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Define allowed/blocked operations globally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2369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Versioned and reviewable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4930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434840" y="3749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0050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"Block all direct database writes"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2611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"Require review for security paths"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137160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A6B9F"/>
                </a:solidFill>
                <a:latin typeface="Consolas"/>
              </a:defRPr>
            </a:pPr>
            <a:r>
              <a:t>Approval Modes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888888"/>
                </a:solidFill>
                <a:latin typeface="Calibri"/>
              </a:defRPr>
            </a:pPr>
            <a:r>
              <a:t>Graduated trust for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1031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3A6B9F"/>
                </a:solidFill>
                <a:latin typeface="Calibri"/>
              </a:defRPr>
            </a:pPr>
            <a:r>
              <a:t>Phased rollout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331720"/>
            <a:ext cx="1828800" cy="27432"/>
          </a:xfrm>
          <a:prstGeom prst="rect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on-request — asks before every 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7249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untrusted — auto-approves safe 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team-by-team — earned autonomy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2369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8275320" y="34930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Phase mapping: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749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Pilot: on-request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0050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Expand: untrusted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2611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Scale: team-by-team decision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5171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8275320" y="47731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Trust is earned, not assumed.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A1A2E"/>
                </a:solidFill>
                <a:latin typeface="Calibri"/>
              </a:defRPr>
            </a:pPr>
            <a:r>
              <a:t>The harness makes rollout governable: local team instructions, central guardrails, and phased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Start Read-Only. Scale on Evidence.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66160" cy="38404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0A37F"/>
                </a:solidFill>
                <a:latin typeface="Calibri"/>
              </a:defRPr>
            </a:pPr>
            <a:r>
              <a:t>1. Code Understanding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1">
                <a:solidFill>
                  <a:srgbClr val="10A37F"/>
                </a:solidFill>
                <a:latin typeface="Calibri"/>
              </a:defRPr>
            </a:pPr>
            <a:r>
              <a:t>HIGHLIGHTED — Start 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03120"/>
            <a:ext cx="182880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"Explain this function and its deps"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78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"What would break if I changed this?"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Impact analysis + dependency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5351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94360" y="319125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first: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28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Read-only = zero generation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6667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Addresses pain #1 (legacy code)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Fastest "aha moment"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1422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Gateway to other workflows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37997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6177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it wins: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85546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Immediate value for onboarding and legacy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371600"/>
            <a:ext cx="35661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A6B9F"/>
                </a:solidFill>
                <a:latin typeface="Calibri"/>
              </a:defRPr>
            </a:pPr>
            <a:r>
              <a:t>2. Test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1828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1">
                <a:solidFill>
                  <a:srgbClr val="888888"/>
                </a:solidFill>
                <a:latin typeface="Calibri"/>
              </a:defRPr>
            </a:pPr>
            <a:r>
              <a:t>Measurable coverage lift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2103120"/>
            <a:ext cx="1828800" cy="27432"/>
          </a:xfrm>
          <a:prstGeom prst="rect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"Generate unit tests for this function"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2478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"Add edge cases for the payment flow"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Coverage reports before/after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5351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4434840" y="319125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second: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428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Measurable output (coverage 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6667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Builds on code understanding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Addresses test gap pain 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41422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Generated tests require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371600"/>
            <a:ext cx="35661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6C5CE7"/>
                </a:solidFill>
                <a:latin typeface="Calibri"/>
              </a:defRPr>
            </a:pPr>
            <a:r>
              <a:t>3. Docs &amp; Refactoring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1828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1">
                <a:solidFill>
                  <a:srgbClr val="888888"/>
                </a:solidFill>
                <a:latin typeface="Calibri"/>
              </a:defRPr>
            </a:pPr>
            <a:r>
              <a:t>Velocity improvement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2103120"/>
            <a:ext cx="1828800" cy="27432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"Document this module's public API"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2478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"Refactor to extract shared logic"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Inline documentation generation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295351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3" name="TextBox 42"/>
          <p:cNvSpPr txBox="1"/>
          <p:nvPr/>
        </p:nvSpPr>
        <p:spPr>
          <a:xfrm>
            <a:off x="8275320" y="319125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third: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3428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Highest autonomy, highest 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36667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Devs have trust by this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Direct velocity impact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41422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Requires mature harness config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349240"/>
            <a:ext cx="11247120" cy="2743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0A37F"/>
                </a:solidFill>
                <a:latin typeface="Calibri"/>
              </a:defRPr>
            </a:pPr>
            <a:r>
              <a:t>WEEKS 1–2: Pilot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20–30 devs  |  Code Understanding  |  on-request  |  weekly office hours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A6B9F"/>
                </a:solidFill>
                <a:latin typeface="Calibri"/>
              </a:defRPr>
            </a:pPr>
            <a:r>
              <a:t>WEEKS 3–6: Expand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3 teams  |  + Test Generation  |  untrusted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C5CE7"/>
                </a:solidFill>
                <a:latin typeface="Calibri"/>
              </a:defRPr>
            </a:pPr>
            <a:r>
              <a:t>WEEKS 7–12: Scale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All engineering  |  + Docs &amp; Refactoring  |  team-by-team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6035040"/>
            <a:ext cx="6858000" cy="54864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6062472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Codex has real limitations. We show you how to work WITH them, not around them.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98079" y="6035040"/>
            <a:ext cx="42062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35240" y="606247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0392B"/>
                </a:solidFill>
                <a:latin typeface="Calibri"/>
              </a:defRPr>
            </a:pPr>
            <a:r>
              <a:t>All generated code = standard code review. No exceptions.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Same Data. Two Audiences.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68580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888888"/>
                </a:solidFill>
                <a:latin typeface="Calibri"/>
              </a:defRPr>
            </a:pPr>
            <a:r>
              <a:t>VISIBILITY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888888"/>
                </a:solidFill>
                <a:latin typeface="Calibri"/>
              </a:defRPr>
            </a:pPr>
            <a:r>
              <a:t>Teams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640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888888"/>
                </a:solidFill>
                <a:latin typeface="Calibri"/>
              </a:defRPr>
            </a:pPr>
            <a:r>
              <a:t>Workflows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88888"/>
                </a:solidFill>
                <a:latin typeface="Calibri"/>
              </a:defRPr>
            </a:pPr>
            <a:r>
              <a:t>Understanding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88888"/>
                </a:solidFill>
                <a:latin typeface="Calibri"/>
              </a:defRPr>
            </a:pPr>
            <a:r>
              <a:t>Test 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88888"/>
                </a:solidFill>
                <a:latin typeface="Calibri"/>
              </a:defRPr>
            </a:pPr>
            <a:r>
              <a:t>Docs/Refactor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3A6B9F"/>
                </a:solidFill>
                <a:latin typeface="Calibri"/>
              </a:defRPr>
            </a:pPr>
            <a: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C5CE7"/>
                </a:solidFill>
                <a:latin typeface="Calibri"/>
              </a:defRPr>
            </a:pPr>
            <a:r>
              <a:t>Checkout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76F51"/>
                </a:solidFill>
                <a:latin typeface="Calibri"/>
              </a:defRPr>
            </a:pPr>
            <a:r>
              <a:t>Inventory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0A37F"/>
                </a:solidFill>
                <a:latin typeface="Calibri"/>
              </a:defRPr>
            </a:pPr>
            <a:r>
              <a:t>Payments</a:t>
            </a:r>
          </a:p>
        </p:txBody>
      </p:sp>
      <p:sp>
        <p:nvSpPr>
          <p:cNvPr id="17" name="Oval 16"/>
          <p:cNvSpPr/>
          <p:nvPr/>
        </p:nvSpPr>
        <p:spPr>
          <a:xfrm>
            <a:off x="2148840" y="2057400"/>
            <a:ext cx="777240" cy="77724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83280" y="2194560"/>
            <a:ext cx="594360" cy="59436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6280" y="233172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0" y="2148840"/>
            <a:ext cx="685800" cy="6858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86000" y="3017520"/>
            <a:ext cx="502920" cy="50292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29000" y="297180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52160" y="306324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31720" y="393192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20440" y="4023360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709160" y="4069080"/>
            <a:ext cx="228600" cy="2286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97880" y="3931920"/>
            <a:ext cx="411480" cy="4114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5262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88888"/>
                </a:solidFill>
                <a:latin typeface="Calibri"/>
              </a:defRPr>
            </a:pPr>
            <a:r>
              <a:t>Bubble size = query volume     Color = risk level (green = safe, orange = review needed, red = flagged)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800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Team × Workflow × Risk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1371600"/>
            <a:ext cx="4114800" cy="182880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14173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76F51"/>
                </a:solidFill>
                <a:latin typeface="Calibri"/>
              </a:defRPr>
            </a:pPr>
            <a:r>
              <a:t>VP 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26679" y="1737360"/>
            <a:ext cx="1371600" cy="27432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182880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Usage patterns across teams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Risk indicators by workflow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Compliance trails, audit-ready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Export for security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9520" y="3383280"/>
            <a:ext cx="4114800" cy="1828800"/>
          </a:xfrm>
          <a:prstGeom prst="roundRect">
            <a:avLst/>
          </a:prstGeom>
          <a:solidFill>
            <a:srgbClr val="E8EEF8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79" y="34290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A6B9F"/>
                </a:solidFill>
                <a:latin typeface="Calibri"/>
              </a:defRPr>
            </a:pPr>
            <a:r>
              <a:t>Director 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26679" y="3749039"/>
            <a:ext cx="1371600" cy="27432"/>
          </a:xfrm>
          <a:prstGeom prst="rect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79" y="384048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Adoption rates by team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Bottlenecks and friction points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Impact metrics (coverage, velocity)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Team performance trends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20"/>
            <a:ext cx="112471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Same data, different views. Shared language for what's happening and whether it's working.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080760"/>
            <a:ext cx="1124712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1">
                <a:solidFill>
                  <a:srgbClr val="10A37F"/>
                </a:solidFill>
                <a:latin typeface="Calibri"/>
              </a:defRPr>
            </a:pPr>
            <a:r>
              <a:t>Example pilot view: adoption, risk, and workflow mix in one 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Next Step: Pilot in Two Weeks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508760"/>
            <a:ext cx="2286000" cy="54864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2011680"/>
            <a:ext cx="548640" cy="54864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Select Pilot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4688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Platform engineering — most legacy burden, most to gain. Their success becomes the proof point for expansion. 20–30 developers. Code Understanding only.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3474720"/>
            <a:ext cx="548640" cy="548640"/>
          </a:xfrm>
          <a:prstGeom prst="ellipse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520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474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IT/Security Workshop — Day 1, Not Day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93192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Joint session with your security team and OpenAI to configure policy controls, SSO integration, data classification, and audit expectations. Security is a partner, not a gate.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4937760"/>
            <a:ext cx="548640" cy="5486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983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937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Define Pass/Fail Metrics Before the Pilot Starts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9496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Agree on measurable success criteria in writing before anyone touches the tool. If we hit the metric, evidence drives expansion. If we don't, you have a fair, data-driven decision.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5760720"/>
            <a:ext cx="914400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5897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1">
                <a:solidFill>
                  <a:srgbClr val="10A37F"/>
                </a:solidFill>
                <a:latin typeface="Calibri"/>
              </a:defRPr>
            </a:pPr>
            <a:r>
              <a:t>"Start visible. Stay visible. Scale on evidence."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